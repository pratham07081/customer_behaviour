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anrope" panose="020B0604020202020204" charset="0"/>
      <p:regular r:id="rId13"/>
    </p:embeddedFont>
    <p:embeddedFont>
      <p:font typeface="Prata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75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6553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216181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Retail Performance Analysis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6280190" y="3919538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data-driven deep dive into North American retail performance — powered by Python and PostgreSQL — spanning </a:t>
            </a:r>
            <a:r>
              <a:rPr lang="en-US" sz="17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$233K in revenue</a:t>
            </a: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r>
              <a:rPr lang="en-US" sz="17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3,900 customers</a:t>
            </a: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and actionable insights across product, behavior, and loyalty.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6280190" y="5633918"/>
            <a:ext cx="2112764" cy="426244"/>
          </a:xfrm>
          <a:prstGeom prst="roundRect">
            <a:avLst>
              <a:gd name="adj" fmla="val 6386"/>
            </a:avLst>
          </a:prstGeom>
          <a:solidFill>
            <a:srgbClr val="391F13"/>
          </a:solidFill>
          <a:ln/>
        </p:spPr>
      </p:sp>
      <p:sp>
        <p:nvSpPr>
          <p:cNvPr id="8" name="Text 4"/>
          <p:cNvSpPr/>
          <p:nvPr/>
        </p:nvSpPr>
        <p:spPr>
          <a:xfrm>
            <a:off x="6416278" y="5701903"/>
            <a:ext cx="184058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506301" y="5626298"/>
            <a:ext cx="1694021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84482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50010" y="5701903"/>
            <a:ext cx="140660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NORTH AMERICA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45033C-24A2-1B9E-633B-116A2A2F9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345" y="7407712"/>
            <a:ext cx="4026055" cy="8218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453" y="646748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Business Overview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65453" y="1072753"/>
            <a:ext cx="9933623" cy="68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 Stable, High-Value Retail Ecosystem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65453" y="2181939"/>
            <a:ext cx="6417945" cy="721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50"/>
              </a:lnSpc>
              <a:buNone/>
            </a:pPr>
            <a:r>
              <a:rPr lang="en-US" sz="5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$233K</a:t>
            </a:r>
            <a:endParaRPr lang="en-US" sz="5650" dirty="0"/>
          </a:p>
        </p:txBody>
      </p:sp>
      <p:sp>
        <p:nvSpPr>
          <p:cNvPr id="5" name="Text 3"/>
          <p:cNvSpPr/>
          <p:nvPr/>
        </p:nvSpPr>
        <p:spPr>
          <a:xfrm>
            <a:off x="2607350" y="3171111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Total Revenue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65453" y="3639264"/>
            <a:ext cx="6417945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Consistent performance across all seasons and categories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47002" y="2181939"/>
            <a:ext cx="6417945" cy="721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50"/>
              </a:lnSpc>
              <a:buNone/>
            </a:pPr>
            <a:r>
              <a:rPr lang="en-US" sz="5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$59.76</a:t>
            </a:r>
            <a:endParaRPr lang="en-US" sz="5650" dirty="0"/>
          </a:p>
        </p:txBody>
      </p:sp>
      <p:sp>
        <p:nvSpPr>
          <p:cNvPr id="8" name="Text 6"/>
          <p:cNvSpPr/>
          <p:nvPr/>
        </p:nvSpPr>
        <p:spPr>
          <a:xfrm>
            <a:off x="9288899" y="3171111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Avg. Order Value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447002" y="3639264"/>
            <a:ext cx="6417945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Stable AOV signals reliable, predictable transaction behavior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5453" y="4513898"/>
            <a:ext cx="6417945" cy="721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50"/>
              </a:lnSpc>
              <a:buNone/>
            </a:pPr>
            <a:r>
              <a:rPr lang="en-US" sz="5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3.75</a:t>
            </a:r>
            <a:endParaRPr lang="en-US" sz="5650" dirty="0"/>
          </a:p>
        </p:txBody>
      </p:sp>
      <p:sp>
        <p:nvSpPr>
          <p:cNvPr id="11" name="Text 9"/>
          <p:cNvSpPr/>
          <p:nvPr/>
        </p:nvSpPr>
        <p:spPr>
          <a:xfrm>
            <a:off x="2607350" y="5503069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Avg. Rating /5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65453" y="5971223"/>
            <a:ext cx="6417945" cy="6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Positive sentiment with meaningful room to reach "Excellent" tier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47002" y="4513898"/>
            <a:ext cx="6417945" cy="721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50"/>
              </a:lnSpc>
              <a:buNone/>
            </a:pPr>
            <a:r>
              <a:rPr lang="en-US" sz="5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3,900</a:t>
            </a:r>
            <a:endParaRPr lang="en-US" sz="5650" dirty="0"/>
          </a:p>
        </p:txBody>
      </p:sp>
      <p:sp>
        <p:nvSpPr>
          <p:cNvPr id="14" name="Text 12"/>
          <p:cNvSpPr/>
          <p:nvPr/>
        </p:nvSpPr>
        <p:spPr>
          <a:xfrm>
            <a:off x="9288899" y="5503069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Customers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7447002" y="5971223"/>
            <a:ext cx="6417945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Active customer base across the North American market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65453" y="6895624"/>
            <a:ext cx="13099494" cy="6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Clothing leads all categories in revenue, followed by Accessories. Seasonality is remarkably flat — Fall edges ahead with an AOV of </a:t>
            </a:r>
            <a:r>
              <a:rPr lang="en-US" sz="17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$61</a:t>
            </a:r>
            <a:r>
              <a:rPr lang="en-US" sz="1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while Summer trails slightly at </a:t>
            </a:r>
            <a:r>
              <a:rPr lang="en-US" sz="17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$58</a:t>
            </a:r>
            <a:r>
              <a:rPr lang="en-US" sz="1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C9897DF-243A-61DE-5672-F3D7F7A4E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345" y="7407712"/>
            <a:ext cx="4026055" cy="8218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3654" y="1240155"/>
            <a:ext cx="237029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Male Gap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663654" y="1599724"/>
            <a:ext cx="781669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Is Gender Skew a Strategy — or an Opportunity?</a:t>
            </a:r>
            <a:endParaRPr lang="en-US" sz="3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54" y="3249303"/>
            <a:ext cx="3680460" cy="204362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281139" y="4112289"/>
            <a:ext cx="455215" cy="104572"/>
          </a:xfrm>
          <a:prstGeom prst="roundRect">
            <a:avLst>
              <a:gd name="adj" fmla="val 12241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5038" y="4135519"/>
            <a:ext cx="58112" cy="581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402207" y="4126818"/>
            <a:ext cx="309933" cy="7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Male·68%</a:t>
            </a:r>
            <a:endParaRPr lang="en-US" sz="700" dirty="0"/>
          </a:p>
        </p:txBody>
      </p:sp>
      <p:sp>
        <p:nvSpPr>
          <p:cNvPr id="11" name="Text 5"/>
          <p:cNvSpPr/>
          <p:nvPr/>
        </p:nvSpPr>
        <p:spPr>
          <a:xfrm>
            <a:off x="3535306" y="4126818"/>
            <a:ext cx="176835" cy="7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·68%</a:t>
            </a:r>
            <a:endParaRPr lang="en-US" sz="700" dirty="0"/>
          </a:p>
        </p:txBody>
      </p:sp>
      <p:sp>
        <p:nvSpPr>
          <p:cNvPr id="12" name="Text 6"/>
          <p:cNvSpPr/>
          <p:nvPr/>
        </p:nvSpPr>
        <p:spPr>
          <a:xfrm>
            <a:off x="3558536" y="4126818"/>
            <a:ext cx="15587" cy="7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3" name="Shape 7"/>
          <p:cNvSpPr/>
          <p:nvPr/>
        </p:nvSpPr>
        <p:spPr>
          <a:xfrm>
            <a:off x="3281139" y="4255603"/>
            <a:ext cx="519759" cy="104572"/>
          </a:xfrm>
          <a:prstGeom prst="roundRect">
            <a:avLst>
              <a:gd name="adj" fmla="val 12241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5038" y="4278833"/>
            <a:ext cx="58112" cy="581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402207" y="4270131"/>
            <a:ext cx="374478" cy="7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Female·32%</a:t>
            </a:r>
            <a:endParaRPr lang="en-US" sz="700" dirty="0"/>
          </a:p>
        </p:txBody>
      </p:sp>
      <p:sp>
        <p:nvSpPr>
          <p:cNvPr id="16" name="Text 9"/>
          <p:cNvSpPr/>
          <p:nvPr/>
        </p:nvSpPr>
        <p:spPr>
          <a:xfrm>
            <a:off x="3599850" y="4270131"/>
            <a:ext cx="176835" cy="7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·32%</a:t>
            </a:r>
            <a:endParaRPr lang="en-US" sz="700" dirty="0"/>
          </a:p>
        </p:txBody>
      </p:sp>
      <p:sp>
        <p:nvSpPr>
          <p:cNvPr id="17" name="Text 10"/>
          <p:cNvSpPr/>
          <p:nvPr/>
        </p:nvSpPr>
        <p:spPr>
          <a:xfrm>
            <a:off x="3623080" y="4270131"/>
            <a:ext cx="15588" cy="7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8" name="Text 11"/>
          <p:cNvSpPr/>
          <p:nvPr/>
        </p:nvSpPr>
        <p:spPr>
          <a:xfrm>
            <a:off x="4810958" y="3181112"/>
            <a:ext cx="258877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the Data Tells Us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4810958" y="3635812"/>
            <a:ext cx="3677007" cy="139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Male customers represent </a:t>
            </a:r>
            <a:r>
              <a:rPr lang="en-US" sz="14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68%</a:t>
            </a: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of the base — a significant skew that raises a key strategic question: is this an intentional brand positioning, or an untapped growth channel?</a:t>
            </a:r>
            <a:endParaRPr lang="en-US" sz="1450" dirty="0"/>
          </a:p>
        </p:txBody>
      </p:sp>
      <p:sp>
        <p:nvSpPr>
          <p:cNvPr id="20" name="Shape 13"/>
          <p:cNvSpPr/>
          <p:nvPr/>
        </p:nvSpPr>
        <p:spPr>
          <a:xfrm>
            <a:off x="663654" y="5616416"/>
            <a:ext cx="3829050" cy="1373029"/>
          </a:xfrm>
          <a:prstGeom prst="roundRect">
            <a:avLst>
              <a:gd name="adj" fmla="val 2072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876062" y="5828824"/>
            <a:ext cx="237029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Lean In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876062" y="6220063"/>
            <a:ext cx="3404235" cy="55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Double down on male-targeted product lines and marketing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4651177" y="5616416"/>
            <a:ext cx="3829169" cy="1373029"/>
          </a:xfrm>
          <a:prstGeom prst="roundRect">
            <a:avLst>
              <a:gd name="adj" fmla="val 2072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4863584" y="5828824"/>
            <a:ext cx="2370296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Expand</a:t>
            </a:r>
            <a:endParaRPr lang="en-US" sz="1850" dirty="0"/>
          </a:p>
        </p:txBody>
      </p:sp>
      <p:sp>
        <p:nvSpPr>
          <p:cNvPr id="25" name="Text 18"/>
          <p:cNvSpPr/>
          <p:nvPr/>
        </p:nvSpPr>
        <p:spPr>
          <a:xfrm>
            <a:off x="4863584" y="6220063"/>
            <a:ext cx="3404354" cy="55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 female segments to diversify and grow the base</a:t>
            </a:r>
            <a:endParaRPr lang="en-US" sz="14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502ED04-B271-E037-168A-26EE617530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4345" y="7407712"/>
            <a:ext cx="4026055" cy="8218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7190"/>
            <a:ext cx="2774752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 Segmentation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731520" y="1689378"/>
            <a:ext cx="7701082" cy="59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Age, Loyalty, and Spending Power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31520" y="2686883"/>
            <a:ext cx="2601635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Age Group Breakdown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65396"/>
            <a:ext cx="6347460" cy="36080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55468" y="2686883"/>
            <a:ext cx="2542580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Loyalty &amp; Spend Tiers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555468" y="3145393"/>
            <a:ext cx="6350794" cy="562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</a:t>
            </a:r>
            <a:r>
              <a:rPr lang="en-US" sz="15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Regular</a:t>
            </a: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</a:t>
            </a:r>
            <a:r>
              <a:rPr lang="en-US" sz="15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Loyal</a:t>
            </a: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segments together account for nearly </a:t>
            </a:r>
            <a:r>
              <a:rPr lang="en-US" sz="15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2,300 customers</a:t>
            </a: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the backbone of recurring revenue.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55468" y="3852029"/>
            <a:ext cx="6350794" cy="562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</a:t>
            </a:r>
            <a:r>
              <a:rPr lang="en-US" sz="15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Premium tier represents 37.1%</a:t>
            </a: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of the customer base, demonstrating a strong ability to attract and retain high-value shoppers.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55468" y="4558665"/>
            <a:ext cx="6350794" cy="562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Young Adults lead in headcount, while Adult and Middle-aged groups maintain the highest AOV at approximately </a:t>
            </a:r>
            <a:r>
              <a:rPr lang="en-US" sz="15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$60.45</a:t>
            </a: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8C300F-346A-F79E-D1AC-E35445C9D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345" y="7407712"/>
            <a:ext cx="4026055" cy="821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76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Product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312664"/>
            <a:ext cx="118401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Hero Items, Trending Colors &amp; Size Insights</a:t>
            </a:r>
            <a:endParaRPr lang="en-US" sz="4450" dirty="0"/>
          </a:p>
        </p:txBody>
      </p:sp>
      <p:sp>
        <p:nvSpPr>
          <p:cNvPr id="7" name="Text 4"/>
          <p:cNvSpPr/>
          <p:nvPr/>
        </p:nvSpPr>
        <p:spPr>
          <a:xfrm>
            <a:off x="793790" y="50570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Top Revenue Items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5547479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Blouses, Shirts, and Dresses</a:t>
            </a: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each surpass $10K in revenue. Clothing overall is the dominant category, mirroring the global average rating of </a:t>
            </a:r>
            <a:r>
              <a:rPr lang="en-US" sz="17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3.72/5</a:t>
            </a: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5235893" y="5057061"/>
            <a:ext cx="29088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Trending Color: Olive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235893" y="5547479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Olive</a:t>
            </a: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is the clear color preference across the customer base — a signal for inventory planning, visual merchandising, and seasonal campaigns.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9677995" y="5057061"/>
            <a:ext cx="40361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Size S Commands a Premium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677995" y="5547479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Small (S) sizes yield the </a:t>
            </a:r>
            <a:r>
              <a:rPr lang="en-US" sz="17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highest AOV at $61</a:t>
            </a: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suggesting either premium pricing on smaller apparel or a distinct high-value niche worth cultivating.</a:t>
            </a:r>
            <a:endParaRPr lang="en-US" sz="17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C0D8EE3-5D12-F704-D7E4-443ABA7DD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345" y="7407712"/>
            <a:ext cx="4026055" cy="821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397" y="628769"/>
            <a:ext cx="2396252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Behavioral Insights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701397" y="993100"/>
            <a:ext cx="7219236" cy="59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How and When Customers Buy</a:t>
            </a:r>
            <a:endParaRPr lang="en-US" sz="3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260" y="2017276"/>
            <a:ext cx="7200424" cy="42019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12667" y="3926186"/>
            <a:ext cx="1832913" cy="602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Purchase Cadence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912667" y="4614868"/>
            <a:ext cx="1832913" cy="4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Peaks every 3 months &amp; annually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302957" y="4226312"/>
            <a:ext cx="183291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2-Day Shipping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302957" y="4613529"/>
            <a:ext cx="1832913" cy="22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Highest AOV — $61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28808" y="4590751"/>
            <a:ext cx="1832914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Discount Usage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328808" y="4977967"/>
            <a:ext cx="1832914" cy="4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43% use; AOV $59 vs $60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10844" y="2656165"/>
            <a:ext cx="2452807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Payment Preferences</a:t>
            </a:r>
            <a:endParaRPr lang="en-US" sz="18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844" y="3137892"/>
            <a:ext cx="4206240" cy="239091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01397" y="6583561"/>
            <a:ext cx="13227487" cy="1017151"/>
          </a:xfrm>
          <a:prstGeom prst="roundRect">
            <a:avLst>
              <a:gd name="adj" fmla="val 2827"/>
            </a:avLst>
          </a:prstGeom>
          <a:solidFill>
            <a:srgbClr val="391F13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088" y="6868716"/>
            <a:ext cx="239554" cy="1916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4332" y="6793349"/>
            <a:ext cx="12412861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Discount Insight:</a:t>
            </a:r>
            <a:r>
              <a:rPr lang="en-US" sz="15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Non-discounted AOV ($60) nearly equals discounted AOV ($59) — discounts are driving volume without meaningfully eroding order value. A healthy dynamic.</a:t>
            </a:r>
            <a:endParaRPr lang="en-US" sz="15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D651072-7C74-ABDD-E938-B32E9072F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4345" y="7600712"/>
            <a:ext cx="4026055" cy="628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67557" y="1060371"/>
            <a:ext cx="3098244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Subscription Performance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6167557" y="1431131"/>
            <a:ext cx="7781687" cy="1216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73% of Customers Are Not Yet Subscribers</a:t>
            </a:r>
            <a:endParaRPr lang="en-US" sz="3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557" y="3133888"/>
            <a:ext cx="3649980" cy="2026699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626490" y="3989727"/>
            <a:ext cx="768342" cy="103706"/>
          </a:xfrm>
          <a:prstGeom prst="roundRect">
            <a:avLst>
              <a:gd name="adj" fmla="val 123441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0109" y="4012765"/>
            <a:ext cx="57631" cy="5763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756160" y="4004135"/>
            <a:ext cx="624264" cy="74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Non-Subscribers·73%</a:t>
            </a:r>
            <a:endParaRPr lang="en-US" sz="700" dirty="0"/>
          </a:p>
        </p:txBody>
      </p:sp>
      <p:sp>
        <p:nvSpPr>
          <p:cNvPr id="11" name="Text 5"/>
          <p:cNvSpPr/>
          <p:nvPr/>
        </p:nvSpPr>
        <p:spPr>
          <a:xfrm>
            <a:off x="9205054" y="4004135"/>
            <a:ext cx="175371" cy="74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·73%</a:t>
            </a:r>
            <a:endParaRPr lang="en-US" sz="700" dirty="0"/>
          </a:p>
        </p:txBody>
      </p:sp>
      <p:sp>
        <p:nvSpPr>
          <p:cNvPr id="12" name="Text 6"/>
          <p:cNvSpPr/>
          <p:nvPr/>
        </p:nvSpPr>
        <p:spPr>
          <a:xfrm>
            <a:off x="9228092" y="4004135"/>
            <a:ext cx="15459" cy="74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3" name="Shape 7"/>
          <p:cNvSpPr/>
          <p:nvPr/>
        </p:nvSpPr>
        <p:spPr>
          <a:xfrm>
            <a:off x="8626490" y="4131854"/>
            <a:ext cx="635445" cy="103706"/>
          </a:xfrm>
          <a:prstGeom prst="roundRect">
            <a:avLst>
              <a:gd name="adj" fmla="val 123441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10101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0109" y="4154892"/>
            <a:ext cx="57631" cy="5763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756160" y="4146262"/>
            <a:ext cx="491367" cy="74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Subscribers·27%</a:t>
            </a:r>
            <a:endParaRPr lang="en-US" sz="700" dirty="0"/>
          </a:p>
        </p:txBody>
      </p:sp>
      <p:sp>
        <p:nvSpPr>
          <p:cNvPr id="16" name="Text 9"/>
          <p:cNvSpPr/>
          <p:nvPr/>
        </p:nvSpPr>
        <p:spPr>
          <a:xfrm>
            <a:off x="9072157" y="4146262"/>
            <a:ext cx="175371" cy="74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·27%</a:t>
            </a:r>
            <a:endParaRPr lang="en-US" sz="700" dirty="0"/>
          </a:p>
        </p:txBody>
      </p:sp>
      <p:sp>
        <p:nvSpPr>
          <p:cNvPr id="17" name="Text 10"/>
          <p:cNvSpPr/>
          <p:nvPr/>
        </p:nvSpPr>
        <p:spPr>
          <a:xfrm>
            <a:off x="9095195" y="4146262"/>
            <a:ext cx="15459" cy="74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BDA18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8" name="Text 11"/>
          <p:cNvSpPr/>
          <p:nvPr/>
        </p:nvSpPr>
        <p:spPr>
          <a:xfrm>
            <a:off x="10303431" y="3064907"/>
            <a:ext cx="2965013" cy="303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Subscriber Premium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10303431" y="3535799"/>
            <a:ext cx="3653433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Subscribers generate </a:t>
            </a:r>
            <a:r>
              <a:rPr lang="en-US" sz="15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$62.65K</a:t>
            </a: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 total revenue and show measurably higher satisfaction (</a:t>
            </a:r>
            <a:r>
              <a:rPr lang="en-US" sz="15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3.8 vs. 3.7</a:t>
            </a: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for non-subscribers).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10303431" y="4843343"/>
            <a:ext cx="365343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</a:t>
            </a:r>
            <a:r>
              <a:rPr lang="en-US" sz="15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Middle-aged</a:t>
            </a: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group leads in subscription adoption at </a:t>
            </a:r>
            <a:r>
              <a:rPr lang="en-US" sz="15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28.8%</a:t>
            </a: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0303431" y="5572244"/>
            <a:ext cx="3653433" cy="144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significant cohort of </a:t>
            </a:r>
            <a:r>
              <a:rPr lang="en-US" sz="15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Loyal and Champion</a:t>
            </a: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customers remain unsubscribed — converting them is the single highest-leverage action for growing recurring revenue.</a:t>
            </a:r>
            <a:endParaRPr lang="en-US" sz="15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0CEB64E-AA65-088B-1455-57BD0B8841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4345" y="7407712"/>
            <a:ext cx="4026055" cy="821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00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Technical Depth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225153"/>
            <a:ext cx="113871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Infrastructure: Python + PostgreSQL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500908"/>
            <a:ext cx="32423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How the Data Was Built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082052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dataset was cleaned and structured using </a:t>
            </a:r>
            <a:r>
              <a:rPr lang="en-US" sz="17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</a:t>
            </a: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for pre-processing and transformation, then loaded into </a:t>
            </a:r>
            <a:r>
              <a:rPr lang="en-US" sz="17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</a:t>
            </a: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for relational querying and segment analysis.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5355788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3310" y="5355788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11" name="Text 8"/>
          <p:cNvSpPr/>
          <p:nvPr/>
        </p:nvSpPr>
        <p:spPr>
          <a:xfrm>
            <a:off x="1142524" y="5613083"/>
            <a:ext cx="38856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Loyalty Segmentation Query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42524" y="6103501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 SQL logic classified customers into </a:t>
            </a:r>
            <a:r>
              <a:rPr lang="en-US" sz="17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Champions, Loyal, Regular, and New</a:t>
            </a: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tiers based on purchase frequency and recency.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428548" y="5355788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98067" y="5355788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84482D"/>
          </a:solidFill>
          <a:ln/>
        </p:spPr>
      </p:sp>
      <p:sp>
        <p:nvSpPr>
          <p:cNvPr id="15" name="Text 12"/>
          <p:cNvSpPr/>
          <p:nvPr/>
        </p:nvSpPr>
        <p:spPr>
          <a:xfrm>
            <a:off x="7777282" y="5613083"/>
            <a:ext cx="38739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AOV &amp; Revenue Aggregation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777282" y="6103501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Grouped queries calculated per-category, per-size, and per-season revenue and average order values with full dimensional slicing.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EF7661A-4092-3165-20C6-9DD32FFC7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345" y="7585590"/>
            <a:ext cx="4026055" cy="6440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1888"/>
            <a:ext cx="38529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26694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Three Priorities to Drive the Next Phase of Growth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024664"/>
            <a:ext cx="4196358" cy="4383048"/>
          </a:xfrm>
          <a:prstGeom prst="roundRect">
            <a:avLst>
              <a:gd name="adj" fmla="val 811"/>
            </a:avLst>
          </a:prstGeom>
          <a:solidFill>
            <a:srgbClr val="404245"/>
          </a:solidFill>
          <a:ln/>
        </p:spPr>
      </p:sp>
      <p:sp>
        <p:nvSpPr>
          <p:cNvPr id="5" name="Shape 3"/>
          <p:cNvSpPr/>
          <p:nvPr/>
        </p:nvSpPr>
        <p:spPr>
          <a:xfrm>
            <a:off x="1020604" y="32514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482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3438525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4158734"/>
            <a:ext cx="30015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Close the Gender Gap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4649153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 Female customers at just 32%, a targeted acquisition and product strategy could meaningfully expand the addressable market without cannibalizing current revenue.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024664"/>
            <a:ext cx="4196358" cy="4383048"/>
          </a:xfrm>
          <a:prstGeom prst="roundRect">
            <a:avLst>
              <a:gd name="adj" fmla="val 811"/>
            </a:avLst>
          </a:prstGeom>
          <a:solidFill>
            <a:srgbClr val="404245"/>
          </a:solidFill>
          <a:ln/>
        </p:spPr>
      </p:sp>
      <p:sp>
        <p:nvSpPr>
          <p:cNvPr id="10" name="Shape 7"/>
          <p:cNvSpPr/>
          <p:nvPr/>
        </p:nvSpPr>
        <p:spPr>
          <a:xfrm>
            <a:off x="5443776" y="32514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482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438525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3776" y="4158734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Convert Loyal Non-Subscribers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43776" y="5003483"/>
            <a:ext cx="37427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Champion and Loyal customers who haven't subscribed represent the clearest upsell path. A personalized outreach campaign could move the 27% subscriber rate significantly higher.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024664"/>
            <a:ext cx="4196358" cy="4383048"/>
          </a:xfrm>
          <a:prstGeom prst="roundRect">
            <a:avLst>
              <a:gd name="adj" fmla="val 811"/>
            </a:avLst>
          </a:prstGeom>
          <a:solidFill>
            <a:srgbClr val="404245"/>
          </a:solidFill>
          <a:ln/>
        </p:spPr>
      </p:sp>
      <p:sp>
        <p:nvSpPr>
          <p:cNvPr id="15" name="Shape 11"/>
          <p:cNvSpPr/>
          <p:nvPr/>
        </p:nvSpPr>
        <p:spPr>
          <a:xfrm>
            <a:off x="9866948" y="32514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482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4114" y="3438525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6948" y="4158734"/>
            <a:ext cx="35812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Push Ratings to "Excellent"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66948" y="4649153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current 3.75 average leaves headroom. Focus post-purchase experience improvements — faster resolution, loyalty perks — to shift the curve toward 4.5+.</a:t>
            </a:r>
            <a:endParaRPr lang="en-US" sz="17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6DD8626-400C-B896-7D47-27A689C7BF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4345" y="7407712"/>
            <a:ext cx="4026055" cy="8218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02680" y="994172"/>
            <a:ext cx="7711440" cy="1278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 Healthy Foundation with Clear Growth Levers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6202680" y="2550081"/>
            <a:ext cx="7711440" cy="934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 </a:t>
            </a:r>
            <a:r>
              <a:rPr lang="en-US" sz="16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$233K in stable revenue</a:t>
            </a: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a predictable $59.76 AOV, and a loyal customer base of 3,900, the business is well-positioned. The next phase of growth lies in </a:t>
            </a:r>
            <a:r>
              <a:rPr lang="en-US" sz="16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subscription conversion, gender diversification, and satisfaction elevation</a:t>
            </a: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202680" y="3691771"/>
            <a:ext cx="204549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202680" y="4016573"/>
            <a:ext cx="3763447" cy="2286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9" name="Text 5"/>
          <p:cNvSpPr/>
          <p:nvPr/>
        </p:nvSpPr>
        <p:spPr>
          <a:xfrm>
            <a:off x="6202680" y="4164568"/>
            <a:ext cx="3700224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Activate the Subscriber Upsell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202680" y="4595098"/>
            <a:ext cx="3763447" cy="934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 Loyal and Champion non-subscribers with personalized campaigns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0150673" y="3691771"/>
            <a:ext cx="204549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10150673" y="4016573"/>
            <a:ext cx="3763447" cy="2286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3" name="Text 9"/>
          <p:cNvSpPr/>
          <p:nvPr/>
        </p:nvSpPr>
        <p:spPr>
          <a:xfrm>
            <a:off x="10150673" y="4164568"/>
            <a:ext cx="3550325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Expand the Female Segment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0150673" y="4595098"/>
            <a:ext cx="3763447" cy="622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Assess branding and product mix to attract and retain female shoppers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202680" y="5867162"/>
            <a:ext cx="204549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202680" y="6191964"/>
            <a:ext cx="7711440" cy="22860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17" name="Text 13"/>
          <p:cNvSpPr/>
          <p:nvPr/>
        </p:nvSpPr>
        <p:spPr>
          <a:xfrm>
            <a:off x="6202680" y="6339959"/>
            <a:ext cx="4096107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Elevate the Customer Experience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202680" y="6770489"/>
            <a:ext cx="7711440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Close the gap from 3.75 to 4.5+ through post-purchase investment</a:t>
            </a:r>
            <a:endParaRPr lang="en-US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3831281-B33C-4074-A98A-1729E2A27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345" y="7315200"/>
            <a:ext cx="4026055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839</Words>
  <Application>Microsoft Office PowerPoint</Application>
  <PresentationFormat>Custom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-apple-system, BlinkMacSystemFont, Segoe UI, Roboto, Helvetica Neue, Arial, sans-serif Medium</vt:lpstr>
      <vt:lpstr>Arial</vt:lpstr>
      <vt:lpstr>Prata</vt:lpstr>
      <vt:lpstr>Manrope</vt:lpstr>
      <vt:lpstr>Prata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pratham agarwal</cp:lastModifiedBy>
  <cp:revision>2</cp:revision>
  <dcterms:created xsi:type="dcterms:W3CDTF">2026-04-03T15:31:06Z</dcterms:created>
  <dcterms:modified xsi:type="dcterms:W3CDTF">2026-04-03T15:43:21Z</dcterms:modified>
</cp:coreProperties>
</file>